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example.com/login" TargetMode="External"/><Relationship Id="rId3" Type="http://schemas.openxmlformats.org/officeDocument/2006/relationships/hyperlink" Target="mailto:demo@example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500" y="571500"/>
            <a:ext cx="6376035" cy="717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064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Selenium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Automation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–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Python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+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Pytest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950">
                <a:latin typeface="Arial MT"/>
                <a:cs typeface="Arial MT"/>
              </a:rPr>
              <a:t>Selenium Automation </a:t>
            </a:r>
            <a:r>
              <a:rPr dirty="0" sz="950" spc="-10">
                <a:latin typeface="Arial MT"/>
                <a:cs typeface="Arial MT"/>
              </a:rPr>
              <a:t>Portfolio</a:t>
            </a:r>
            <a:endParaRPr sz="950">
              <a:latin typeface="Arial MT"/>
              <a:cs typeface="Arial MT"/>
            </a:endParaRPr>
          </a:p>
          <a:p>
            <a:pPr marL="12700" marR="245745">
              <a:lnSpc>
                <a:spcPct val="122800"/>
              </a:lnSpc>
              <a:spcBef>
                <a:spcPts val="600"/>
              </a:spcBef>
            </a:pPr>
            <a:r>
              <a:rPr dirty="0" sz="950">
                <a:latin typeface="Arial MT"/>
                <a:cs typeface="Arial MT"/>
              </a:rPr>
              <a:t>Automation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example uses Python + Selenium + pytest. The sample is intentionally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framework-oriented so it can </a:t>
            </a:r>
            <a:r>
              <a:rPr dirty="0" sz="950" spc="-25">
                <a:latin typeface="Arial MT"/>
                <a:cs typeface="Arial MT"/>
              </a:rPr>
              <a:t>be </a:t>
            </a:r>
            <a:r>
              <a:rPr dirty="0" sz="950">
                <a:latin typeface="Arial MT"/>
                <a:cs typeface="Arial MT"/>
              </a:rPr>
              <a:t>connected to a demo web </a:t>
            </a:r>
            <a:r>
              <a:rPr dirty="0" sz="950" spc="-10">
                <a:latin typeface="Arial MT"/>
                <a:cs typeface="Arial MT"/>
              </a:rPr>
              <a:t>application.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spc="-10" b="1">
                <a:latin typeface="Arial"/>
                <a:cs typeface="Arial"/>
              </a:rPr>
              <a:t>Recommended</a:t>
            </a:r>
            <a:r>
              <a:rPr dirty="0" sz="1500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Structure</a:t>
            </a:r>
            <a:endParaRPr sz="1500">
              <a:latin typeface="Arial"/>
              <a:cs typeface="Arial"/>
            </a:endParaRPr>
          </a:p>
          <a:p>
            <a:pPr marL="469900">
              <a:lnSpc>
                <a:spcPts val="919"/>
              </a:lnSpc>
              <a:spcBef>
                <a:spcPts val="1200"/>
              </a:spcBef>
            </a:pPr>
            <a:r>
              <a:rPr dirty="0" sz="800" spc="-10">
                <a:latin typeface="Courier New"/>
                <a:cs typeface="Courier New"/>
              </a:rPr>
              <a:t>04_Selenium_Automation/</a:t>
            </a:r>
            <a:endParaRPr sz="800">
              <a:latin typeface="Courier New"/>
              <a:cs typeface="Courier New"/>
            </a:endParaRPr>
          </a:p>
          <a:p>
            <a:pPr marL="469900">
              <a:lnSpc>
                <a:spcPts val="880"/>
              </a:lnSpc>
            </a:pPr>
            <a:r>
              <a:rPr dirty="0" sz="800">
                <a:latin typeface="MS Gothic"/>
                <a:cs typeface="MS Gothic"/>
              </a:rPr>
              <a:t>■■■</a:t>
            </a:r>
            <a:r>
              <a:rPr dirty="0" sz="800" spc="27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tests/</a:t>
            </a:r>
            <a:endParaRPr sz="800">
              <a:latin typeface="Courier New"/>
              <a:cs typeface="Courier New"/>
            </a:endParaRPr>
          </a:p>
          <a:p>
            <a:pPr marL="753745" indent="-283845">
              <a:lnSpc>
                <a:spcPts val="880"/>
              </a:lnSpc>
              <a:buChar char="■"/>
              <a:tabLst>
                <a:tab pos="753745" algn="l"/>
              </a:tabLst>
            </a:pPr>
            <a:r>
              <a:rPr dirty="0" sz="800">
                <a:latin typeface="MS Gothic"/>
                <a:cs typeface="MS Gothic"/>
              </a:rPr>
              <a:t>■■■</a:t>
            </a:r>
            <a:r>
              <a:rPr dirty="0" sz="800" spc="28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test_login.py</a:t>
            </a:r>
            <a:endParaRPr sz="800">
              <a:latin typeface="Courier New"/>
              <a:cs typeface="Courier New"/>
            </a:endParaRPr>
          </a:p>
          <a:p>
            <a:pPr marL="469900">
              <a:lnSpc>
                <a:spcPts val="880"/>
              </a:lnSpc>
            </a:pPr>
            <a:r>
              <a:rPr dirty="0" sz="800">
                <a:latin typeface="MS Gothic"/>
                <a:cs typeface="MS Gothic"/>
              </a:rPr>
              <a:t>■■■</a:t>
            </a:r>
            <a:r>
              <a:rPr dirty="0" sz="800" spc="27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pages/</a:t>
            </a:r>
            <a:endParaRPr sz="800">
              <a:latin typeface="Courier New"/>
              <a:cs typeface="Courier New"/>
            </a:endParaRPr>
          </a:p>
          <a:p>
            <a:pPr marL="753745" indent="-283845">
              <a:lnSpc>
                <a:spcPts val="880"/>
              </a:lnSpc>
              <a:buChar char="■"/>
              <a:tabLst>
                <a:tab pos="753745" algn="l"/>
              </a:tabLst>
            </a:pPr>
            <a:r>
              <a:rPr dirty="0" sz="800">
                <a:latin typeface="MS Gothic"/>
                <a:cs typeface="MS Gothic"/>
              </a:rPr>
              <a:t>■■■</a:t>
            </a:r>
            <a:r>
              <a:rPr dirty="0" sz="800" spc="28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login_page.py</a:t>
            </a:r>
            <a:endParaRPr sz="800">
              <a:latin typeface="Courier New"/>
              <a:cs typeface="Courier New"/>
            </a:endParaRPr>
          </a:p>
          <a:p>
            <a:pPr marL="469900">
              <a:lnSpc>
                <a:spcPts val="880"/>
              </a:lnSpc>
            </a:pPr>
            <a:r>
              <a:rPr dirty="0" sz="800">
                <a:latin typeface="MS Gothic"/>
                <a:cs typeface="MS Gothic"/>
              </a:rPr>
              <a:t>■■■</a:t>
            </a:r>
            <a:r>
              <a:rPr dirty="0" sz="800" spc="28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conftest.py</a:t>
            </a:r>
            <a:endParaRPr sz="800">
              <a:latin typeface="Courier New"/>
              <a:cs typeface="Courier New"/>
            </a:endParaRPr>
          </a:p>
          <a:p>
            <a:pPr marL="469900">
              <a:lnSpc>
                <a:spcPts val="880"/>
              </a:lnSpc>
            </a:pPr>
            <a:r>
              <a:rPr dirty="0" sz="800">
                <a:latin typeface="MS Gothic"/>
                <a:cs typeface="MS Gothic"/>
              </a:rPr>
              <a:t>■■■</a:t>
            </a:r>
            <a:r>
              <a:rPr dirty="0" sz="800" spc="28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requirements.txt</a:t>
            </a:r>
            <a:endParaRPr sz="800">
              <a:latin typeface="Courier New"/>
              <a:cs typeface="Courier New"/>
            </a:endParaRPr>
          </a:p>
          <a:p>
            <a:pPr marL="469900">
              <a:lnSpc>
                <a:spcPts val="919"/>
              </a:lnSpc>
            </a:pPr>
            <a:r>
              <a:rPr dirty="0" sz="800">
                <a:latin typeface="MS Gothic"/>
                <a:cs typeface="MS Gothic"/>
              </a:rPr>
              <a:t>■■■</a:t>
            </a:r>
            <a:r>
              <a:rPr dirty="0" sz="800" spc="28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README.md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Arial"/>
                <a:cs typeface="Arial"/>
              </a:rPr>
              <a:t>Page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Object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Example</a:t>
            </a:r>
            <a:endParaRPr sz="15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dirty="0" sz="800">
                <a:latin typeface="Courier New"/>
                <a:cs typeface="Courier New"/>
              </a:rPr>
              <a:t>from</a:t>
            </a:r>
            <a:r>
              <a:rPr dirty="0" sz="800" spc="6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selenium.webdriver.common.by</a:t>
            </a:r>
            <a:r>
              <a:rPr dirty="0" sz="800" spc="6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import</a:t>
            </a:r>
            <a:r>
              <a:rPr dirty="0" sz="800" spc="60"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By</a:t>
            </a:r>
            <a:endParaRPr sz="800">
              <a:latin typeface="Courier New"/>
              <a:cs typeface="Courier New"/>
            </a:endParaRPr>
          </a:p>
          <a:p>
            <a:pPr marL="469900">
              <a:lnSpc>
                <a:spcPts val="919"/>
              </a:lnSpc>
              <a:spcBef>
                <a:spcPts val="800"/>
              </a:spcBef>
            </a:pPr>
            <a:r>
              <a:rPr dirty="0" sz="800">
                <a:latin typeface="Courier New"/>
                <a:cs typeface="Courier New"/>
              </a:rPr>
              <a:t>class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LoginPage:</a:t>
            </a:r>
            <a:endParaRPr sz="800">
              <a:latin typeface="Courier New"/>
              <a:cs typeface="Courier New"/>
            </a:endParaRPr>
          </a:p>
          <a:p>
            <a:pPr algn="just" marL="713740" marR="3824604">
              <a:lnSpc>
                <a:spcPts val="880"/>
              </a:lnSpc>
              <a:spcBef>
                <a:spcPts val="55"/>
              </a:spcBef>
            </a:pPr>
            <a:r>
              <a:rPr dirty="0" sz="800">
                <a:latin typeface="Courier New"/>
                <a:cs typeface="Courier New"/>
              </a:rPr>
              <a:t>USERNAME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=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(By.ID,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"username") </a:t>
            </a:r>
            <a:r>
              <a:rPr dirty="0" sz="800">
                <a:latin typeface="Courier New"/>
                <a:cs typeface="Courier New"/>
              </a:rPr>
              <a:t>PASSWORD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=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(By.ID,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"password") </a:t>
            </a:r>
            <a:r>
              <a:rPr dirty="0" sz="800">
                <a:latin typeface="Courier New"/>
                <a:cs typeface="Courier New"/>
              </a:rPr>
              <a:t>LOGIN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=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(By.ID,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"login")</a:t>
            </a:r>
            <a:endParaRPr sz="800">
              <a:latin typeface="Courier New"/>
              <a:cs typeface="Courier New"/>
            </a:endParaRPr>
          </a:p>
          <a:p>
            <a:pPr marL="957580" marR="4008120" indent="-244475">
              <a:lnSpc>
                <a:spcPts val="880"/>
              </a:lnSpc>
              <a:spcBef>
                <a:spcPts val="880"/>
              </a:spcBef>
            </a:pPr>
            <a:r>
              <a:rPr dirty="0" sz="800">
                <a:latin typeface="Courier New"/>
                <a:cs typeface="Courier New"/>
              </a:rPr>
              <a:t>def</a:t>
            </a:r>
            <a:r>
              <a:rPr dirty="0" sz="800" spc="10">
                <a:latin typeface="Courier New"/>
                <a:cs typeface="Courier New"/>
              </a:rPr>
              <a:t> </a:t>
            </a:r>
            <a:r>
              <a:rPr dirty="0" u="sng" sz="800" spc="49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init</a:t>
            </a:r>
            <a:r>
              <a:rPr dirty="0" u="sng" sz="800" spc="495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(self,</a:t>
            </a:r>
            <a:r>
              <a:rPr dirty="0" sz="800" spc="1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driver): </a:t>
            </a:r>
            <a:r>
              <a:rPr dirty="0" sz="800">
                <a:latin typeface="Courier New"/>
                <a:cs typeface="Courier New"/>
              </a:rPr>
              <a:t>self.driver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=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driver</a:t>
            </a:r>
            <a:endParaRPr sz="800">
              <a:latin typeface="Courier New"/>
              <a:cs typeface="Courier New"/>
            </a:endParaRPr>
          </a:p>
          <a:p>
            <a:pPr marL="957580" marR="1751964" indent="-244475">
              <a:lnSpc>
                <a:spcPts val="880"/>
              </a:lnSpc>
              <a:spcBef>
                <a:spcPts val="880"/>
              </a:spcBef>
            </a:pPr>
            <a:r>
              <a:rPr dirty="0" sz="800">
                <a:latin typeface="Courier New"/>
                <a:cs typeface="Courier New"/>
              </a:rPr>
              <a:t>def</a:t>
            </a:r>
            <a:r>
              <a:rPr dirty="0" sz="800" spc="3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login(self,</a:t>
            </a:r>
            <a:r>
              <a:rPr dirty="0" sz="800" spc="3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username,</a:t>
            </a:r>
            <a:r>
              <a:rPr dirty="0" sz="800" spc="3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password): self.driver.find_element(*self.USERNAME).send_keys(username) self.driver.find_element(*self.PASSWORD).send_keys(password) self.driver.find_element(*self.LOGIN).click()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Arial"/>
                <a:cs typeface="Arial"/>
              </a:rPr>
              <a:t>Pytest</a:t>
            </a:r>
            <a:r>
              <a:rPr dirty="0" sz="1500" spc="-50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Example</a:t>
            </a:r>
            <a:endParaRPr sz="1500">
              <a:latin typeface="Arial"/>
              <a:cs typeface="Arial"/>
            </a:endParaRPr>
          </a:p>
          <a:p>
            <a:pPr marL="713740" marR="3275965" indent="-244475">
              <a:lnSpc>
                <a:spcPts val="880"/>
              </a:lnSpc>
              <a:spcBef>
                <a:spcPts val="1295"/>
              </a:spcBef>
            </a:pPr>
            <a:r>
              <a:rPr dirty="0" sz="800">
                <a:latin typeface="Courier New"/>
                <a:cs typeface="Courier New"/>
              </a:rPr>
              <a:t>def</a:t>
            </a:r>
            <a:r>
              <a:rPr dirty="0" sz="800" spc="1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test_valid_login(driver): driver.get("</a:t>
            </a:r>
            <a:r>
              <a:rPr dirty="0" sz="800" spc="-10">
                <a:latin typeface="Courier New"/>
                <a:cs typeface="Courier New"/>
                <a:hlinkClick r:id="rId2"/>
              </a:rPr>
              <a:t>https://example.com/login</a:t>
            </a:r>
            <a:r>
              <a:rPr dirty="0" sz="800" spc="-10">
                <a:latin typeface="Courier New"/>
                <a:cs typeface="Courier New"/>
              </a:rPr>
              <a:t>") </a:t>
            </a:r>
            <a:r>
              <a:rPr dirty="0" sz="800">
                <a:latin typeface="Courier New"/>
                <a:cs typeface="Courier New"/>
              </a:rPr>
              <a:t>page</a:t>
            </a:r>
            <a:r>
              <a:rPr dirty="0" sz="800" spc="1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=</a:t>
            </a:r>
            <a:r>
              <a:rPr dirty="0" sz="800" spc="1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LoginPage(driver)</a:t>
            </a:r>
            <a:endParaRPr sz="800">
              <a:latin typeface="Courier New"/>
              <a:cs typeface="Courier New"/>
            </a:endParaRPr>
          </a:p>
          <a:p>
            <a:pPr marL="713740" marR="2910205">
              <a:lnSpc>
                <a:spcPts val="880"/>
              </a:lnSpc>
            </a:pPr>
            <a:r>
              <a:rPr dirty="0" sz="800">
                <a:latin typeface="Courier New"/>
                <a:cs typeface="Courier New"/>
              </a:rPr>
              <a:t>page.login("</a:t>
            </a:r>
            <a:r>
              <a:rPr dirty="0" sz="800">
                <a:latin typeface="Courier New"/>
                <a:cs typeface="Courier New"/>
                <a:hlinkClick r:id="rId3"/>
              </a:rPr>
              <a:t>demo@example.com</a:t>
            </a:r>
            <a:r>
              <a:rPr dirty="0" sz="800">
                <a:latin typeface="Courier New"/>
                <a:cs typeface="Courier New"/>
              </a:rPr>
              <a:t>",</a:t>
            </a:r>
            <a:r>
              <a:rPr dirty="0" sz="800" spc="14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"Password123") </a:t>
            </a:r>
            <a:r>
              <a:rPr dirty="0" sz="800">
                <a:latin typeface="Courier New"/>
                <a:cs typeface="Courier New"/>
              </a:rPr>
              <a:t>assert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"Dashboard"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in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driver.title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500" b="1">
                <a:latin typeface="Arial"/>
                <a:cs typeface="Arial"/>
              </a:rPr>
              <a:t>Key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Concepts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950">
                <a:latin typeface="Arial MT"/>
                <a:cs typeface="Arial MT"/>
              </a:rPr>
              <a:t>WebDriver,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locators,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XPath/CSS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selectors, waits,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Page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Object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Model, assertions,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fixtures,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test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execution and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reporting.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Arial"/>
                <a:cs typeface="Arial"/>
              </a:rPr>
              <a:t>Important </a:t>
            </a:r>
            <a:r>
              <a:rPr dirty="0" sz="1500" spc="-20" b="1">
                <a:latin typeface="Arial"/>
                <a:cs typeface="Arial"/>
              </a:rPr>
              <a:t>Note</a:t>
            </a:r>
            <a:endParaRPr sz="1500">
              <a:latin typeface="Arial"/>
              <a:cs typeface="Arial"/>
            </a:endParaRPr>
          </a:p>
          <a:p>
            <a:pPr marL="12700" marR="319405">
              <a:lnSpc>
                <a:spcPct val="122800"/>
              </a:lnSpc>
              <a:spcBef>
                <a:spcPts val="940"/>
              </a:spcBef>
            </a:pPr>
            <a:r>
              <a:rPr dirty="0" sz="950">
                <a:latin typeface="Arial MT"/>
                <a:cs typeface="Arial MT"/>
              </a:rPr>
              <a:t>The example URL and selectors are placeholders. Replace them with the actual demo application URL and </a:t>
            </a:r>
            <a:r>
              <a:rPr dirty="0" sz="950" spc="-25">
                <a:latin typeface="Arial MT"/>
                <a:cs typeface="Arial MT"/>
              </a:rPr>
              <a:t>DOM </a:t>
            </a:r>
            <a:r>
              <a:rPr dirty="0" sz="950">
                <a:latin typeface="Arial MT"/>
                <a:cs typeface="Arial MT"/>
              </a:rPr>
              <a:t>locators before </a:t>
            </a:r>
            <a:r>
              <a:rPr dirty="0" sz="950" spc="-10">
                <a:latin typeface="Arial MT"/>
                <a:cs typeface="Arial MT"/>
              </a:rPr>
              <a:t>execution.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(anonymous)</dc:creator>
  <dc:subject>(unspecified)</dc:subject>
  <dc:title>(anonymous)</dc:title>
  <dcterms:created xsi:type="dcterms:W3CDTF">2026-09-29T12:13:01Z</dcterms:created>
  <dcterms:modified xsi:type="dcterms:W3CDTF">2026-09-29T12:13:01Z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2026-09-29T00:00:00Z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2026-09-29T00:00:00Z</vt:filetime>
  </property>
  <property fmtid="{D5CDD505-2E9C-101B-9397-08002B2CF9AE}" pid="6" name="Producer">
    <vt:lpwstr>ReportLab PDF Library - (opensource)</vt:lpwstr>
  </property>
</Properties>
</file>