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1500" y="571500"/>
            <a:ext cx="6209030" cy="3733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208279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latin typeface="Arial"/>
                <a:cs typeface="Arial"/>
              </a:rPr>
              <a:t>Manual</a:t>
            </a:r>
            <a:r>
              <a:rPr dirty="0" sz="2000" spc="-2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Testing</a:t>
            </a:r>
            <a:r>
              <a:rPr dirty="0" sz="2000" spc="-2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–</a:t>
            </a:r>
            <a:r>
              <a:rPr dirty="0" sz="2000" spc="-2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Test</a:t>
            </a:r>
            <a:r>
              <a:rPr dirty="0" sz="2000" spc="-2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Plan</a:t>
            </a:r>
            <a:r>
              <a:rPr dirty="0" sz="2000" spc="-2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&amp;</a:t>
            </a:r>
            <a:r>
              <a:rPr dirty="0" sz="2000" spc="-2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Test</a:t>
            </a:r>
            <a:r>
              <a:rPr dirty="0" sz="2000" spc="-20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Cases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00"/>
              </a:spcBef>
            </a:pPr>
            <a:r>
              <a:rPr dirty="0" sz="950">
                <a:latin typeface="Arial"/>
                <a:cs typeface="Arial"/>
              </a:rPr>
              <a:t>Project: VirtuShop Web </a:t>
            </a:r>
            <a:r>
              <a:rPr dirty="0" sz="950" spc="-10">
                <a:latin typeface="Arial"/>
                <a:cs typeface="Arial"/>
              </a:rPr>
              <a:t>Application</a:t>
            </a:r>
            <a:endParaRPr sz="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dirty="0" sz="950">
                <a:latin typeface="Arial"/>
                <a:cs typeface="Arial"/>
              </a:rPr>
              <a:t>Objective:</a:t>
            </a:r>
            <a:r>
              <a:rPr dirty="0" sz="950" spc="-5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Demonstrate practical</a:t>
            </a:r>
            <a:r>
              <a:rPr dirty="0" sz="950" spc="-5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manual software testing</a:t>
            </a:r>
            <a:r>
              <a:rPr dirty="0" sz="950" spc="-5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skills for a</a:t>
            </a:r>
            <a:r>
              <a:rPr dirty="0" sz="950" spc="-5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software-testing trainee</a:t>
            </a:r>
            <a:r>
              <a:rPr dirty="0" sz="950" spc="-5">
                <a:latin typeface="Arial"/>
                <a:cs typeface="Arial"/>
              </a:rPr>
              <a:t> </a:t>
            </a:r>
            <a:r>
              <a:rPr dirty="0" sz="950" spc="-10">
                <a:latin typeface="Arial"/>
                <a:cs typeface="Arial"/>
              </a:rPr>
              <a:t>role.</a:t>
            </a:r>
            <a:endParaRPr sz="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950">
              <a:latin typeface="Arial"/>
              <a:cs typeface="Arial"/>
            </a:endParaRPr>
          </a:p>
          <a:p>
            <a:pPr marL="223520" indent="-210820">
              <a:lnSpc>
                <a:spcPct val="100000"/>
              </a:lnSpc>
              <a:buAutoNum type="arabicPeriod"/>
              <a:tabLst>
                <a:tab pos="223520" algn="l"/>
              </a:tabLst>
            </a:pPr>
            <a:r>
              <a:rPr dirty="0" sz="1500" b="1">
                <a:latin typeface="Arial"/>
                <a:cs typeface="Arial"/>
              </a:rPr>
              <a:t>Test</a:t>
            </a:r>
            <a:r>
              <a:rPr dirty="0" sz="1500" spc="-35" b="1">
                <a:latin typeface="Arial"/>
                <a:cs typeface="Arial"/>
              </a:rPr>
              <a:t> </a:t>
            </a:r>
            <a:r>
              <a:rPr dirty="0" sz="1500" spc="-10" b="1">
                <a:latin typeface="Arial"/>
                <a:cs typeface="Arial"/>
              </a:rPr>
              <a:t>Scope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ct val="122800"/>
              </a:lnSpc>
              <a:spcBef>
                <a:spcPts val="940"/>
              </a:spcBef>
            </a:pPr>
            <a:r>
              <a:rPr dirty="0" sz="950">
                <a:latin typeface="Arial"/>
                <a:cs typeface="Arial"/>
              </a:rPr>
              <a:t>The project covers login, registration, product search, product details, cart, checkout, form validation, navigation </a:t>
            </a:r>
            <a:r>
              <a:rPr dirty="0" sz="950" spc="-25">
                <a:latin typeface="Arial"/>
                <a:cs typeface="Arial"/>
              </a:rPr>
              <a:t>and </a:t>
            </a:r>
            <a:r>
              <a:rPr dirty="0" sz="950">
                <a:latin typeface="Arial"/>
                <a:cs typeface="Arial"/>
              </a:rPr>
              <a:t>basic responsive </a:t>
            </a:r>
            <a:r>
              <a:rPr dirty="0" sz="950" spc="-10">
                <a:latin typeface="Arial"/>
                <a:cs typeface="Arial"/>
              </a:rPr>
              <a:t>behavior.</a:t>
            </a:r>
            <a:endParaRPr sz="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950">
              <a:latin typeface="Arial"/>
              <a:cs typeface="Arial"/>
            </a:endParaRPr>
          </a:p>
          <a:p>
            <a:pPr marL="223520" indent="-210820">
              <a:lnSpc>
                <a:spcPct val="100000"/>
              </a:lnSpc>
              <a:buAutoNum type="arabicPeriod" startAt="2"/>
              <a:tabLst>
                <a:tab pos="223520" algn="l"/>
              </a:tabLst>
            </a:pPr>
            <a:r>
              <a:rPr dirty="0" sz="1500" b="1">
                <a:latin typeface="Arial"/>
                <a:cs typeface="Arial"/>
              </a:rPr>
              <a:t>Test</a:t>
            </a:r>
            <a:r>
              <a:rPr dirty="0" sz="1500" spc="-35" b="1">
                <a:latin typeface="Arial"/>
                <a:cs typeface="Arial"/>
              </a:rPr>
              <a:t> </a:t>
            </a:r>
            <a:r>
              <a:rPr dirty="0" sz="1500" spc="-10" b="1">
                <a:latin typeface="Arial"/>
                <a:cs typeface="Arial"/>
              </a:rPr>
              <a:t>Types</a:t>
            </a:r>
            <a:endParaRPr sz="1500">
              <a:latin typeface="Arial"/>
              <a:cs typeface="Arial"/>
            </a:endParaRPr>
          </a:p>
          <a:p>
            <a:pPr marL="12700" marR="3438525">
              <a:lnSpc>
                <a:spcPct val="122800"/>
              </a:lnSpc>
              <a:spcBef>
                <a:spcPts val="940"/>
              </a:spcBef>
            </a:pPr>
            <a:r>
              <a:rPr dirty="0" sz="950" b="1">
                <a:latin typeface="Arial"/>
                <a:cs typeface="Arial"/>
              </a:rPr>
              <a:t>Functional: </a:t>
            </a:r>
            <a:r>
              <a:rPr dirty="0" sz="950">
                <a:latin typeface="Arial"/>
                <a:cs typeface="Arial"/>
              </a:rPr>
              <a:t>Verify features against </a:t>
            </a:r>
            <a:r>
              <a:rPr dirty="0" sz="950" spc="-10">
                <a:latin typeface="Arial"/>
                <a:cs typeface="Arial"/>
              </a:rPr>
              <a:t>requirements. </a:t>
            </a:r>
            <a:r>
              <a:rPr dirty="0" sz="950" b="1">
                <a:latin typeface="Arial"/>
                <a:cs typeface="Arial"/>
              </a:rPr>
              <a:t>Regression: </a:t>
            </a:r>
            <a:r>
              <a:rPr dirty="0" sz="950">
                <a:latin typeface="Arial"/>
                <a:cs typeface="Arial"/>
              </a:rPr>
              <a:t>Verify existing features after </a:t>
            </a:r>
            <a:r>
              <a:rPr dirty="0" sz="950" spc="-10">
                <a:latin typeface="Arial"/>
                <a:cs typeface="Arial"/>
              </a:rPr>
              <a:t>changes. </a:t>
            </a:r>
            <a:r>
              <a:rPr dirty="0" sz="950" b="1">
                <a:latin typeface="Arial"/>
                <a:cs typeface="Arial"/>
              </a:rPr>
              <a:t>Smoke: </a:t>
            </a:r>
            <a:r>
              <a:rPr dirty="0" sz="950">
                <a:latin typeface="Arial"/>
                <a:cs typeface="Arial"/>
              </a:rPr>
              <a:t>Verify critical build </a:t>
            </a:r>
            <a:r>
              <a:rPr dirty="0" sz="950" spc="-10">
                <a:latin typeface="Arial"/>
                <a:cs typeface="Arial"/>
              </a:rPr>
              <a:t>stability.</a:t>
            </a:r>
            <a:endParaRPr sz="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dirty="0" sz="950" b="1">
                <a:latin typeface="Arial"/>
                <a:cs typeface="Arial"/>
              </a:rPr>
              <a:t>Sanity: </a:t>
            </a:r>
            <a:r>
              <a:rPr dirty="0" sz="950">
                <a:latin typeface="Arial"/>
                <a:cs typeface="Arial"/>
              </a:rPr>
              <a:t>Verify a focused </a:t>
            </a:r>
            <a:r>
              <a:rPr dirty="0" sz="950" spc="-10">
                <a:latin typeface="Arial"/>
                <a:cs typeface="Arial"/>
              </a:rPr>
              <a:t>change.</a:t>
            </a:r>
            <a:endParaRPr sz="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dirty="0" sz="950" b="1">
                <a:latin typeface="Arial"/>
                <a:cs typeface="Arial"/>
              </a:rPr>
              <a:t>Usability: </a:t>
            </a:r>
            <a:r>
              <a:rPr dirty="0" sz="950">
                <a:latin typeface="Arial"/>
                <a:cs typeface="Arial"/>
              </a:rPr>
              <a:t>Check clarity and ease of </a:t>
            </a:r>
            <a:r>
              <a:rPr dirty="0" sz="950" spc="-20">
                <a:latin typeface="Arial"/>
                <a:cs typeface="Arial"/>
              </a:rPr>
              <a:t>use.</a:t>
            </a:r>
            <a:endParaRPr sz="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dirty="0" sz="950" b="1">
                <a:latin typeface="Arial"/>
                <a:cs typeface="Arial"/>
              </a:rPr>
              <a:t>Compatibility: </a:t>
            </a:r>
            <a:r>
              <a:rPr dirty="0" sz="950">
                <a:latin typeface="Arial"/>
                <a:cs typeface="Arial"/>
              </a:rPr>
              <a:t>Check supported </a:t>
            </a:r>
            <a:r>
              <a:rPr dirty="0" sz="950" spc="-10">
                <a:latin typeface="Arial"/>
                <a:cs typeface="Arial"/>
              </a:rPr>
              <a:t>browsers/devices.</a:t>
            </a:r>
            <a:endParaRPr sz="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950">
              <a:latin typeface="Arial"/>
              <a:cs typeface="Arial"/>
            </a:endParaRPr>
          </a:p>
          <a:p>
            <a:pPr marL="223520" indent="-210820">
              <a:lnSpc>
                <a:spcPct val="100000"/>
              </a:lnSpc>
              <a:buAutoNum type="arabicPeriod" startAt="3"/>
              <a:tabLst>
                <a:tab pos="223520" algn="l"/>
              </a:tabLst>
            </a:pPr>
            <a:r>
              <a:rPr dirty="0" sz="1500" b="1">
                <a:latin typeface="Arial"/>
                <a:cs typeface="Arial"/>
              </a:rPr>
              <a:t>Test</a:t>
            </a:r>
            <a:r>
              <a:rPr dirty="0" sz="1500" spc="-35" b="1">
                <a:latin typeface="Arial"/>
                <a:cs typeface="Arial"/>
              </a:rPr>
              <a:t> </a:t>
            </a:r>
            <a:r>
              <a:rPr dirty="0" sz="1500" spc="-10" b="1">
                <a:latin typeface="Arial"/>
                <a:cs typeface="Arial"/>
              </a:rPr>
              <a:t>Scenarios</a:t>
            </a:r>
            <a:endParaRPr sz="150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65960" y="4442459"/>
          <a:ext cx="6341110" cy="2514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1500"/>
                <a:gridCol w="825500"/>
                <a:gridCol w="1052830"/>
                <a:gridCol w="3810000"/>
              </a:tblGrid>
              <a:tr h="2286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50" spc="-25" b="1">
                          <a:latin typeface="Arial"/>
                          <a:cs typeface="Arial"/>
                        </a:rPr>
                        <a:t>ID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50" spc="-10" b="1">
                          <a:latin typeface="Arial"/>
                          <a:cs typeface="Arial"/>
                        </a:rPr>
                        <a:t>Module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3048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50" spc="-10" b="1">
                          <a:latin typeface="Arial"/>
                          <a:cs typeface="Arial"/>
                        </a:rPr>
                        <a:t>Scenario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50" b="1">
                          <a:latin typeface="Arial"/>
                          <a:cs typeface="Arial"/>
                        </a:rPr>
                        <a:t>Expected </a:t>
                      </a:r>
                      <a:r>
                        <a:rPr dirty="0" sz="750" spc="-10" b="1">
                          <a:latin typeface="Arial"/>
                          <a:cs typeface="Arial"/>
                        </a:rPr>
                        <a:t>Result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D3D3D3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50">
                          <a:latin typeface="Arial"/>
                          <a:cs typeface="Arial"/>
                        </a:rPr>
                        <a:t>TS-</a:t>
                      </a:r>
                      <a:r>
                        <a:rPr dirty="0" sz="750" spc="-25">
                          <a:latin typeface="Arial"/>
                          <a:cs typeface="Arial"/>
                        </a:rPr>
                        <a:t>01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50" spc="-10">
                          <a:latin typeface="Arial"/>
                          <a:cs typeface="Arial"/>
                        </a:rPr>
                        <a:t>Login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 marR="3048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50">
                          <a:latin typeface="Arial"/>
                          <a:cs typeface="Arial"/>
                        </a:rPr>
                        <a:t>Valid</a:t>
                      </a:r>
                      <a:r>
                        <a:rPr dirty="0" sz="750" spc="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0">
                          <a:latin typeface="Arial"/>
                          <a:cs typeface="Arial"/>
                        </a:rPr>
                        <a:t>credentials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50">
                          <a:latin typeface="Arial"/>
                          <a:cs typeface="Arial"/>
                        </a:rPr>
                        <a:t>User logs in</a:t>
                      </a:r>
                      <a:r>
                        <a:rPr dirty="0" sz="75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0">
                          <a:latin typeface="Arial"/>
                          <a:cs typeface="Arial"/>
                        </a:rPr>
                        <a:t>successfully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50">
                          <a:latin typeface="Arial"/>
                          <a:cs typeface="Arial"/>
                        </a:rPr>
                        <a:t>TS-</a:t>
                      </a:r>
                      <a:r>
                        <a:rPr dirty="0" sz="750" spc="-25">
                          <a:latin typeface="Arial"/>
                          <a:cs typeface="Arial"/>
                        </a:rPr>
                        <a:t>02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50" spc="-10">
                          <a:latin typeface="Arial"/>
                          <a:cs typeface="Arial"/>
                        </a:rPr>
                        <a:t>Login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 marR="3048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50">
                          <a:latin typeface="Arial"/>
                          <a:cs typeface="Arial"/>
                        </a:rPr>
                        <a:t>Invalid </a:t>
                      </a:r>
                      <a:r>
                        <a:rPr dirty="0" sz="750" spc="-10">
                          <a:latin typeface="Arial"/>
                          <a:cs typeface="Arial"/>
                        </a:rPr>
                        <a:t>password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50">
                          <a:latin typeface="Arial"/>
                          <a:cs typeface="Arial"/>
                        </a:rPr>
                        <a:t>Error message is </a:t>
                      </a:r>
                      <a:r>
                        <a:rPr dirty="0" sz="750" spc="-10">
                          <a:latin typeface="Arial"/>
                          <a:cs typeface="Arial"/>
                        </a:rPr>
                        <a:t>shown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50">
                          <a:latin typeface="Arial"/>
                          <a:cs typeface="Arial"/>
                        </a:rPr>
                        <a:t>TS-</a:t>
                      </a:r>
                      <a:r>
                        <a:rPr dirty="0" sz="750" spc="-25">
                          <a:latin typeface="Arial"/>
                          <a:cs typeface="Arial"/>
                        </a:rPr>
                        <a:t>03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50" spc="-10">
                          <a:latin typeface="Arial"/>
                          <a:cs typeface="Arial"/>
                        </a:rPr>
                        <a:t>Registration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 marR="3048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50">
                          <a:latin typeface="Arial"/>
                          <a:cs typeface="Arial"/>
                        </a:rPr>
                        <a:t>Required</a:t>
                      </a:r>
                      <a:r>
                        <a:rPr dirty="0" sz="750" spc="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latin typeface="Arial"/>
                          <a:cs typeface="Arial"/>
                        </a:rPr>
                        <a:t>fields</a:t>
                      </a:r>
                      <a:r>
                        <a:rPr dirty="0" sz="750" spc="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0">
                          <a:latin typeface="Arial"/>
                          <a:cs typeface="Arial"/>
                        </a:rPr>
                        <a:t>blank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50">
                          <a:latin typeface="Arial"/>
                          <a:cs typeface="Arial"/>
                        </a:rPr>
                        <a:t>Validation messages </a:t>
                      </a:r>
                      <a:r>
                        <a:rPr dirty="0" sz="750" spc="-10">
                          <a:latin typeface="Arial"/>
                          <a:cs typeface="Arial"/>
                        </a:rPr>
                        <a:t>appear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50">
                          <a:latin typeface="Arial"/>
                          <a:cs typeface="Arial"/>
                        </a:rPr>
                        <a:t>TS-</a:t>
                      </a:r>
                      <a:r>
                        <a:rPr dirty="0" sz="750" spc="-25">
                          <a:latin typeface="Arial"/>
                          <a:cs typeface="Arial"/>
                        </a:rPr>
                        <a:t>04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50" spc="-10">
                          <a:latin typeface="Arial"/>
                          <a:cs typeface="Arial"/>
                        </a:rPr>
                        <a:t>Search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 marR="3048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50">
                          <a:latin typeface="Arial"/>
                          <a:cs typeface="Arial"/>
                        </a:rPr>
                        <a:t>Search</a:t>
                      </a:r>
                      <a:r>
                        <a:rPr dirty="0" sz="75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latin typeface="Arial"/>
                          <a:cs typeface="Arial"/>
                        </a:rPr>
                        <a:t>valid</a:t>
                      </a:r>
                      <a:r>
                        <a:rPr dirty="0" sz="750" spc="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0">
                          <a:latin typeface="Arial"/>
                          <a:cs typeface="Arial"/>
                        </a:rPr>
                        <a:t>product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50">
                          <a:latin typeface="Arial"/>
                          <a:cs typeface="Arial"/>
                        </a:rPr>
                        <a:t>Relevant products are </a:t>
                      </a:r>
                      <a:r>
                        <a:rPr dirty="0" sz="750" spc="-10">
                          <a:latin typeface="Arial"/>
                          <a:cs typeface="Arial"/>
                        </a:rPr>
                        <a:t>displayed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50">
                          <a:latin typeface="Arial"/>
                          <a:cs typeface="Arial"/>
                        </a:rPr>
                        <a:t>TS-</a:t>
                      </a:r>
                      <a:r>
                        <a:rPr dirty="0" sz="750" spc="-25">
                          <a:latin typeface="Arial"/>
                          <a:cs typeface="Arial"/>
                        </a:rPr>
                        <a:t>05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50" spc="-10">
                          <a:latin typeface="Arial"/>
                          <a:cs typeface="Arial"/>
                        </a:rPr>
                        <a:t>Search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50">
                          <a:latin typeface="Arial"/>
                          <a:cs typeface="Arial"/>
                        </a:rPr>
                        <a:t>Search</a:t>
                      </a:r>
                      <a:r>
                        <a:rPr dirty="0" sz="750" spc="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latin typeface="Arial"/>
                          <a:cs typeface="Arial"/>
                        </a:rPr>
                        <a:t>unavailable</a:t>
                      </a:r>
                      <a:r>
                        <a:rPr dirty="0" sz="750" spc="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25">
                          <a:latin typeface="Arial"/>
                          <a:cs typeface="Arial"/>
                        </a:rPr>
                        <a:t>pro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50" spc="-165">
                          <a:latin typeface="Arial"/>
                          <a:cs typeface="Arial"/>
                        </a:rPr>
                        <a:t>dNucot-</a:t>
                      </a:r>
                      <a:r>
                        <a:rPr dirty="0" sz="750">
                          <a:latin typeface="Arial"/>
                          <a:cs typeface="Arial"/>
                        </a:rPr>
                        <a:t>result</a:t>
                      </a:r>
                      <a:r>
                        <a:rPr dirty="0" sz="750" spc="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latin typeface="Arial"/>
                          <a:cs typeface="Arial"/>
                        </a:rPr>
                        <a:t>message</a:t>
                      </a:r>
                      <a:r>
                        <a:rPr dirty="0" sz="750" spc="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0">
                          <a:latin typeface="Arial"/>
                          <a:cs typeface="Arial"/>
                        </a:rPr>
                        <a:t>appears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50">
                          <a:latin typeface="Arial"/>
                          <a:cs typeface="Arial"/>
                        </a:rPr>
                        <a:t>TS-</a:t>
                      </a:r>
                      <a:r>
                        <a:rPr dirty="0" sz="750" spc="-25">
                          <a:latin typeface="Arial"/>
                          <a:cs typeface="Arial"/>
                        </a:rPr>
                        <a:t>06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50" spc="-10">
                          <a:latin typeface="Arial"/>
                          <a:cs typeface="Arial"/>
                        </a:rPr>
                        <a:t>Product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 marR="3048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50">
                          <a:latin typeface="Arial"/>
                          <a:cs typeface="Arial"/>
                        </a:rPr>
                        <a:t>Open product </a:t>
                      </a:r>
                      <a:r>
                        <a:rPr dirty="0" sz="750" spc="-10">
                          <a:latin typeface="Arial"/>
                          <a:cs typeface="Arial"/>
                        </a:rPr>
                        <a:t>details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50">
                          <a:latin typeface="Arial"/>
                          <a:cs typeface="Arial"/>
                        </a:rPr>
                        <a:t>Correct details are </a:t>
                      </a:r>
                      <a:r>
                        <a:rPr dirty="0" sz="750" spc="-10">
                          <a:latin typeface="Arial"/>
                          <a:cs typeface="Arial"/>
                        </a:rPr>
                        <a:t>displayed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50">
                          <a:latin typeface="Arial"/>
                          <a:cs typeface="Arial"/>
                        </a:rPr>
                        <a:t>TS-</a:t>
                      </a:r>
                      <a:r>
                        <a:rPr dirty="0" sz="750" spc="-25">
                          <a:latin typeface="Arial"/>
                          <a:cs typeface="Arial"/>
                        </a:rPr>
                        <a:t>07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50" spc="-20">
                          <a:latin typeface="Arial"/>
                          <a:cs typeface="Arial"/>
                        </a:rPr>
                        <a:t>Cart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 marR="3048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50">
                          <a:latin typeface="Arial"/>
                          <a:cs typeface="Arial"/>
                        </a:rPr>
                        <a:t>Add product to </a:t>
                      </a:r>
                      <a:r>
                        <a:rPr dirty="0" sz="750" spc="-20">
                          <a:latin typeface="Arial"/>
                          <a:cs typeface="Arial"/>
                        </a:rPr>
                        <a:t>cart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50">
                          <a:latin typeface="Arial"/>
                          <a:cs typeface="Arial"/>
                        </a:rPr>
                        <a:t>Product appears with correct </a:t>
                      </a:r>
                      <a:r>
                        <a:rPr dirty="0" sz="750" spc="-10">
                          <a:latin typeface="Arial"/>
                          <a:cs typeface="Arial"/>
                        </a:rPr>
                        <a:t>quantity/price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50">
                          <a:latin typeface="Arial"/>
                          <a:cs typeface="Arial"/>
                        </a:rPr>
                        <a:t>TS-</a:t>
                      </a:r>
                      <a:r>
                        <a:rPr dirty="0" sz="750" spc="-25">
                          <a:latin typeface="Arial"/>
                          <a:cs typeface="Arial"/>
                        </a:rPr>
                        <a:t>08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50" spc="-20">
                          <a:latin typeface="Arial"/>
                          <a:cs typeface="Arial"/>
                        </a:rPr>
                        <a:t>Cart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 marR="3048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50">
                          <a:latin typeface="Arial"/>
                          <a:cs typeface="Arial"/>
                        </a:rPr>
                        <a:t>Remove </a:t>
                      </a:r>
                      <a:r>
                        <a:rPr dirty="0" sz="750" spc="-10">
                          <a:latin typeface="Arial"/>
                          <a:cs typeface="Arial"/>
                        </a:rPr>
                        <a:t>product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50">
                          <a:latin typeface="Arial"/>
                          <a:cs typeface="Arial"/>
                        </a:rPr>
                        <a:t>Product is</a:t>
                      </a:r>
                      <a:r>
                        <a:rPr dirty="0" sz="75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latin typeface="Arial"/>
                          <a:cs typeface="Arial"/>
                        </a:rPr>
                        <a:t>removed and total</a:t>
                      </a:r>
                      <a:r>
                        <a:rPr dirty="0" sz="75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0">
                          <a:latin typeface="Arial"/>
                          <a:cs typeface="Arial"/>
                        </a:rPr>
                        <a:t>updates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50">
                          <a:latin typeface="Arial"/>
                          <a:cs typeface="Arial"/>
                        </a:rPr>
                        <a:t>TS-</a:t>
                      </a:r>
                      <a:r>
                        <a:rPr dirty="0" sz="750" spc="-25">
                          <a:latin typeface="Arial"/>
                          <a:cs typeface="Arial"/>
                        </a:rPr>
                        <a:t>09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50" spc="-10">
                          <a:latin typeface="Arial"/>
                          <a:cs typeface="Arial"/>
                        </a:rPr>
                        <a:t>Checkout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 marR="3048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50">
                          <a:latin typeface="Arial"/>
                          <a:cs typeface="Arial"/>
                        </a:rPr>
                        <a:t>Submit</a:t>
                      </a:r>
                      <a:r>
                        <a:rPr dirty="0" sz="75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latin typeface="Arial"/>
                          <a:cs typeface="Arial"/>
                        </a:rPr>
                        <a:t>valid</a:t>
                      </a:r>
                      <a:r>
                        <a:rPr dirty="0" sz="750" spc="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0">
                          <a:latin typeface="Arial"/>
                          <a:cs typeface="Arial"/>
                        </a:rPr>
                        <a:t>checkout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50" spc="-114">
                          <a:latin typeface="Arial"/>
                          <a:cs typeface="Arial"/>
                        </a:rPr>
                        <a:t>foOrmrder</a:t>
                      </a:r>
                      <a:r>
                        <a:rPr dirty="0" sz="750">
                          <a:latin typeface="Arial"/>
                          <a:cs typeface="Arial"/>
                        </a:rPr>
                        <a:t> confirmation</a:t>
                      </a:r>
                      <a:r>
                        <a:rPr dirty="0" sz="75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latin typeface="Arial"/>
                          <a:cs typeface="Arial"/>
                        </a:rPr>
                        <a:t>is</a:t>
                      </a:r>
                      <a:r>
                        <a:rPr dirty="0" sz="75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0">
                          <a:latin typeface="Arial"/>
                          <a:cs typeface="Arial"/>
                        </a:rPr>
                        <a:t>displayed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50">
                          <a:latin typeface="Arial"/>
                          <a:cs typeface="Arial"/>
                        </a:rPr>
                        <a:t>TS-</a:t>
                      </a:r>
                      <a:r>
                        <a:rPr dirty="0" sz="750" spc="-25">
                          <a:latin typeface="Arial"/>
                          <a:cs typeface="Arial"/>
                        </a:rPr>
                        <a:t>10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50" spc="-10">
                          <a:latin typeface="Arial"/>
                          <a:cs typeface="Arial"/>
                        </a:rPr>
                        <a:t>Checkout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 marR="3048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50">
                          <a:latin typeface="Arial"/>
                          <a:cs typeface="Arial"/>
                        </a:rPr>
                        <a:t>Invalid </a:t>
                      </a:r>
                      <a:r>
                        <a:rPr dirty="0" sz="750" spc="-10">
                          <a:latin typeface="Arial"/>
                          <a:cs typeface="Arial"/>
                        </a:rPr>
                        <a:t>email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50">
                          <a:latin typeface="Arial"/>
                          <a:cs typeface="Arial"/>
                        </a:rPr>
                        <a:t>Email validation prevents </a:t>
                      </a:r>
                      <a:r>
                        <a:rPr dirty="0" sz="750" spc="-10">
                          <a:latin typeface="Arial"/>
                          <a:cs typeface="Arial"/>
                        </a:rPr>
                        <a:t>submission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571500" y="7073900"/>
            <a:ext cx="276796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latin typeface="Arial"/>
                <a:cs typeface="Arial"/>
              </a:rPr>
              <a:t>4.</a:t>
            </a:r>
            <a:r>
              <a:rPr dirty="0" sz="1500" spc="-40" b="1">
                <a:latin typeface="Arial"/>
                <a:cs typeface="Arial"/>
              </a:rPr>
              <a:t> </a:t>
            </a:r>
            <a:r>
              <a:rPr dirty="0" sz="1500" b="1">
                <a:latin typeface="Arial"/>
                <a:cs typeface="Arial"/>
              </a:rPr>
              <a:t>Sample</a:t>
            </a:r>
            <a:r>
              <a:rPr dirty="0" sz="1500" spc="-35" b="1">
                <a:latin typeface="Arial"/>
                <a:cs typeface="Arial"/>
              </a:rPr>
              <a:t> </a:t>
            </a:r>
            <a:r>
              <a:rPr dirty="0" sz="1500" b="1">
                <a:latin typeface="Arial"/>
                <a:cs typeface="Arial"/>
              </a:rPr>
              <a:t>Detailed</a:t>
            </a:r>
            <a:r>
              <a:rPr dirty="0" sz="1500" spc="-35" b="1">
                <a:latin typeface="Arial"/>
                <a:cs typeface="Arial"/>
              </a:rPr>
              <a:t> </a:t>
            </a:r>
            <a:r>
              <a:rPr dirty="0" sz="1500" b="1">
                <a:latin typeface="Arial"/>
                <a:cs typeface="Arial"/>
              </a:rPr>
              <a:t>Test</a:t>
            </a:r>
            <a:r>
              <a:rPr dirty="0" sz="1500" spc="-35" b="1">
                <a:latin typeface="Arial"/>
                <a:cs typeface="Arial"/>
              </a:rPr>
              <a:t> </a:t>
            </a:r>
            <a:r>
              <a:rPr dirty="0" sz="1500" spc="-10" b="1">
                <a:latin typeface="Arial"/>
                <a:cs typeface="Arial"/>
              </a:rPr>
              <a:t>Cases</a:t>
            </a:r>
            <a:endParaRPr sz="15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07210" y="7465059"/>
          <a:ext cx="6640195" cy="1599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5500"/>
                <a:gridCol w="2222500"/>
                <a:gridCol w="1224915"/>
                <a:gridCol w="1714500"/>
                <a:gridCol w="571500"/>
              </a:tblGrid>
              <a:tr h="2286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00" b="1">
                          <a:latin typeface="Arial"/>
                          <a:cs typeface="Arial"/>
                        </a:rPr>
                        <a:t>TC </a:t>
                      </a:r>
                      <a:r>
                        <a:rPr dirty="0" sz="700" spc="-25" b="1">
                          <a:latin typeface="Arial"/>
                          <a:cs typeface="Arial"/>
                        </a:rPr>
                        <a:t>ID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00" spc="-10" b="1">
                          <a:latin typeface="Arial"/>
                          <a:cs typeface="Arial"/>
                        </a:rPr>
                        <a:t>Steps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1206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00" b="1">
                          <a:latin typeface="Arial"/>
                          <a:cs typeface="Arial"/>
                        </a:rPr>
                        <a:t>Test </a:t>
                      </a:r>
                      <a:r>
                        <a:rPr dirty="0" sz="700" spc="-20" b="1">
                          <a:latin typeface="Arial"/>
                          <a:cs typeface="Arial"/>
                        </a:rPr>
                        <a:t>Data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00" spc="-10" b="1">
                          <a:latin typeface="Arial"/>
                          <a:cs typeface="Arial"/>
                        </a:rPr>
                        <a:t>Expected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00" spc="-10" b="1">
                          <a:latin typeface="Arial"/>
                          <a:cs typeface="Arial"/>
                        </a:rPr>
                        <a:t>Priority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D3D3D3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00" spc="-10">
                          <a:latin typeface="Arial"/>
                          <a:cs typeface="Arial"/>
                        </a:rPr>
                        <a:t>TC-LOGIN-</a:t>
                      </a:r>
                      <a:r>
                        <a:rPr dirty="0" sz="700" spc="-25">
                          <a:latin typeface="Arial"/>
                          <a:cs typeface="Arial"/>
                        </a:rPr>
                        <a:t>01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00">
                          <a:latin typeface="Arial"/>
                          <a:cs typeface="Arial"/>
                        </a:rPr>
                        <a:t>Open</a:t>
                      </a:r>
                      <a:r>
                        <a:rPr dirty="0" sz="7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00">
                          <a:latin typeface="Arial"/>
                          <a:cs typeface="Arial"/>
                        </a:rPr>
                        <a:t>login </a:t>
                      </a:r>
                      <a:r>
                        <a:rPr dirty="0" sz="700">
                          <a:latin typeface="Symbol"/>
                          <a:cs typeface="Symbol"/>
                        </a:rPr>
                        <a:t></a:t>
                      </a:r>
                      <a:r>
                        <a:rPr dirty="0" sz="7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00">
                          <a:latin typeface="Arial"/>
                          <a:cs typeface="Arial"/>
                        </a:rPr>
                        <a:t>enter credentials</a:t>
                      </a:r>
                      <a:r>
                        <a:rPr dirty="0" sz="7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00">
                          <a:latin typeface="Symbol"/>
                          <a:cs typeface="Symbol"/>
                        </a:rPr>
                        <a:t></a:t>
                      </a:r>
                      <a:r>
                        <a:rPr dirty="0" sz="7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00">
                          <a:latin typeface="Arial"/>
                          <a:cs typeface="Arial"/>
                        </a:rPr>
                        <a:t>click</a:t>
                      </a:r>
                      <a:r>
                        <a:rPr dirty="0" sz="7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00" spc="-10">
                          <a:latin typeface="Arial"/>
                          <a:cs typeface="Arial"/>
                        </a:rPr>
                        <a:t>Login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 marR="1206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00">
                          <a:latin typeface="Arial"/>
                          <a:cs typeface="Arial"/>
                        </a:rPr>
                        <a:t>Valid</a:t>
                      </a:r>
                      <a:r>
                        <a:rPr dirty="0" sz="700" spc="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00" spc="-10">
                          <a:latin typeface="Arial"/>
                          <a:cs typeface="Arial"/>
                        </a:rPr>
                        <a:t>user/password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00">
                          <a:latin typeface="Arial"/>
                          <a:cs typeface="Arial"/>
                        </a:rPr>
                        <a:t>Dashboard/home page </a:t>
                      </a:r>
                      <a:r>
                        <a:rPr dirty="0" sz="700" spc="-10">
                          <a:latin typeface="Arial"/>
                          <a:cs typeface="Arial"/>
                        </a:rPr>
                        <a:t>opens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00" spc="-20">
                          <a:latin typeface="Arial"/>
                          <a:cs typeface="Arial"/>
                        </a:rPr>
                        <a:t>High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00" spc="-10">
                          <a:latin typeface="Arial"/>
                          <a:cs typeface="Arial"/>
                        </a:rPr>
                        <a:t>TC-LOGIN-</a:t>
                      </a:r>
                      <a:r>
                        <a:rPr dirty="0" sz="700" spc="-25">
                          <a:latin typeface="Arial"/>
                          <a:cs typeface="Arial"/>
                        </a:rPr>
                        <a:t>02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00">
                          <a:latin typeface="Arial"/>
                          <a:cs typeface="Arial"/>
                        </a:rPr>
                        <a:t>Open</a:t>
                      </a:r>
                      <a:r>
                        <a:rPr dirty="0" sz="7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00">
                          <a:latin typeface="Arial"/>
                          <a:cs typeface="Arial"/>
                        </a:rPr>
                        <a:t>login </a:t>
                      </a:r>
                      <a:r>
                        <a:rPr dirty="0" sz="700">
                          <a:latin typeface="Symbol"/>
                          <a:cs typeface="Symbol"/>
                        </a:rPr>
                        <a:t></a:t>
                      </a:r>
                      <a:r>
                        <a:rPr dirty="0" sz="7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00">
                          <a:latin typeface="Arial"/>
                          <a:cs typeface="Arial"/>
                        </a:rPr>
                        <a:t>wrong password </a:t>
                      </a:r>
                      <a:r>
                        <a:rPr dirty="0" sz="700">
                          <a:latin typeface="Symbol"/>
                          <a:cs typeface="Symbol"/>
                        </a:rPr>
                        <a:t></a:t>
                      </a:r>
                      <a:r>
                        <a:rPr dirty="0" sz="7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00" spc="-10">
                          <a:latin typeface="Arial"/>
                          <a:cs typeface="Arial"/>
                        </a:rPr>
                        <a:t>Login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00">
                          <a:latin typeface="Arial"/>
                          <a:cs typeface="Arial"/>
                        </a:rPr>
                        <a:t>Valid</a:t>
                      </a:r>
                      <a:r>
                        <a:rPr dirty="0" sz="7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00">
                          <a:latin typeface="Arial"/>
                          <a:cs typeface="Arial"/>
                        </a:rPr>
                        <a:t>user + wrong </a:t>
                      </a:r>
                      <a:r>
                        <a:rPr dirty="0" sz="700" spc="-10">
                          <a:latin typeface="Arial"/>
                          <a:cs typeface="Arial"/>
                        </a:rPr>
                        <a:t>password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00">
                          <a:latin typeface="Arial"/>
                          <a:cs typeface="Arial"/>
                        </a:rPr>
                        <a:t>Error</a:t>
                      </a:r>
                      <a:r>
                        <a:rPr dirty="0" sz="7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00">
                          <a:latin typeface="Arial"/>
                          <a:cs typeface="Arial"/>
                        </a:rPr>
                        <a:t>displayed;</a:t>
                      </a:r>
                      <a:r>
                        <a:rPr dirty="0" sz="7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00">
                          <a:latin typeface="Arial"/>
                          <a:cs typeface="Arial"/>
                        </a:rPr>
                        <a:t>user</a:t>
                      </a:r>
                      <a:r>
                        <a:rPr dirty="0" sz="7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00">
                          <a:latin typeface="Arial"/>
                          <a:cs typeface="Arial"/>
                        </a:rPr>
                        <a:t>remains</a:t>
                      </a:r>
                      <a:r>
                        <a:rPr dirty="0" sz="7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00">
                          <a:latin typeface="Arial"/>
                          <a:cs typeface="Arial"/>
                        </a:rPr>
                        <a:t>logged</a:t>
                      </a:r>
                      <a:r>
                        <a:rPr dirty="0" sz="7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00" spc="-25">
                          <a:latin typeface="Arial"/>
                          <a:cs typeface="Arial"/>
                        </a:rPr>
                        <a:t>out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00" spc="-20">
                          <a:latin typeface="Arial"/>
                          <a:cs typeface="Arial"/>
                        </a:rPr>
                        <a:t>High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00">
                          <a:latin typeface="Arial"/>
                          <a:cs typeface="Arial"/>
                        </a:rPr>
                        <a:t>TC-CART-</a:t>
                      </a:r>
                      <a:r>
                        <a:rPr dirty="0" sz="700" spc="-25">
                          <a:latin typeface="Arial"/>
                          <a:cs typeface="Arial"/>
                        </a:rPr>
                        <a:t>01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00">
                          <a:latin typeface="Arial"/>
                          <a:cs typeface="Arial"/>
                        </a:rPr>
                        <a:t>Open</a:t>
                      </a:r>
                      <a:r>
                        <a:rPr dirty="0" sz="7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00">
                          <a:latin typeface="Arial"/>
                          <a:cs typeface="Arial"/>
                        </a:rPr>
                        <a:t>product</a:t>
                      </a:r>
                      <a:r>
                        <a:rPr dirty="0" sz="7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00">
                          <a:latin typeface="Symbol"/>
                          <a:cs typeface="Symbol"/>
                        </a:rPr>
                        <a:t></a:t>
                      </a:r>
                      <a:r>
                        <a:rPr dirty="0" sz="7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00">
                          <a:latin typeface="Arial"/>
                          <a:cs typeface="Arial"/>
                        </a:rPr>
                        <a:t>Add</a:t>
                      </a:r>
                      <a:r>
                        <a:rPr dirty="0" sz="7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00"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7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00">
                          <a:latin typeface="Arial"/>
                          <a:cs typeface="Arial"/>
                        </a:rPr>
                        <a:t>Cart</a:t>
                      </a:r>
                      <a:r>
                        <a:rPr dirty="0" sz="7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00">
                          <a:latin typeface="Symbol"/>
                          <a:cs typeface="Symbol"/>
                        </a:rPr>
                        <a:t></a:t>
                      </a:r>
                      <a:r>
                        <a:rPr dirty="0" sz="7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00" spc="-20">
                          <a:latin typeface="Arial"/>
                          <a:cs typeface="Arial"/>
                        </a:rPr>
                        <a:t>Cart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 marR="1206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00">
                          <a:latin typeface="Arial"/>
                          <a:cs typeface="Arial"/>
                        </a:rPr>
                        <a:t>Product</a:t>
                      </a:r>
                      <a:r>
                        <a:rPr dirty="0" sz="7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00" spc="-50">
                          <a:latin typeface="Arial"/>
                          <a:cs typeface="Arial"/>
                        </a:rPr>
                        <a:t>A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00">
                          <a:latin typeface="Arial"/>
                          <a:cs typeface="Arial"/>
                        </a:rPr>
                        <a:t>Product</a:t>
                      </a:r>
                      <a:r>
                        <a:rPr dirty="0" sz="7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00">
                          <a:latin typeface="Arial"/>
                          <a:cs typeface="Arial"/>
                        </a:rPr>
                        <a:t>appears</a:t>
                      </a:r>
                      <a:r>
                        <a:rPr dirty="0" sz="7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00">
                          <a:latin typeface="Arial"/>
                          <a:cs typeface="Arial"/>
                        </a:rPr>
                        <a:t>in</a:t>
                      </a:r>
                      <a:r>
                        <a:rPr dirty="0" sz="7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00" spc="-20">
                          <a:latin typeface="Arial"/>
                          <a:cs typeface="Arial"/>
                        </a:rPr>
                        <a:t>cart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00" spc="-20">
                          <a:latin typeface="Arial"/>
                          <a:cs typeface="Arial"/>
                        </a:rPr>
                        <a:t>High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00">
                          <a:latin typeface="Arial"/>
                          <a:cs typeface="Arial"/>
                        </a:rPr>
                        <a:t>TC-CART-</a:t>
                      </a:r>
                      <a:r>
                        <a:rPr dirty="0" sz="700" spc="-25">
                          <a:latin typeface="Arial"/>
                          <a:cs typeface="Arial"/>
                        </a:rPr>
                        <a:t>02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00">
                          <a:latin typeface="Arial"/>
                          <a:cs typeface="Arial"/>
                        </a:rPr>
                        <a:t>Cart</a:t>
                      </a:r>
                      <a:r>
                        <a:rPr dirty="0" sz="7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00">
                          <a:latin typeface="Symbol"/>
                          <a:cs typeface="Symbol"/>
                        </a:rPr>
                        <a:t></a:t>
                      </a:r>
                      <a:r>
                        <a:rPr dirty="0" sz="7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00">
                          <a:latin typeface="Arial"/>
                          <a:cs typeface="Arial"/>
                        </a:rPr>
                        <a:t>change</a:t>
                      </a:r>
                      <a:r>
                        <a:rPr dirty="0" sz="7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00" spc="-10">
                          <a:latin typeface="Arial"/>
                          <a:cs typeface="Arial"/>
                        </a:rPr>
                        <a:t>quantity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 marR="1206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00">
                          <a:latin typeface="Arial"/>
                          <a:cs typeface="Arial"/>
                        </a:rPr>
                        <a:t>Quantity</a:t>
                      </a:r>
                      <a:r>
                        <a:rPr dirty="0" sz="7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00" spc="-50">
                          <a:latin typeface="Arial"/>
                          <a:cs typeface="Arial"/>
                        </a:rPr>
                        <a:t>2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00">
                          <a:latin typeface="Arial"/>
                          <a:cs typeface="Arial"/>
                        </a:rPr>
                        <a:t>Subtotal</a:t>
                      </a:r>
                      <a:r>
                        <a:rPr dirty="0" sz="7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00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7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00">
                          <a:latin typeface="Arial"/>
                          <a:cs typeface="Arial"/>
                        </a:rPr>
                        <a:t>total recalculate</a:t>
                      </a:r>
                      <a:r>
                        <a:rPr dirty="0" sz="7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00" spc="-10">
                          <a:latin typeface="Arial"/>
                          <a:cs typeface="Arial"/>
                        </a:rPr>
                        <a:t>correctly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00" spc="-20">
                          <a:latin typeface="Arial"/>
                          <a:cs typeface="Arial"/>
                        </a:rPr>
                        <a:t>High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00">
                          <a:latin typeface="Arial"/>
                          <a:cs typeface="Arial"/>
                        </a:rPr>
                        <a:t>TC-CHK-</a:t>
                      </a:r>
                      <a:r>
                        <a:rPr dirty="0" sz="700" spc="-25">
                          <a:latin typeface="Arial"/>
                          <a:cs typeface="Arial"/>
                        </a:rPr>
                        <a:t>01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00">
                          <a:latin typeface="Arial"/>
                          <a:cs typeface="Arial"/>
                        </a:rPr>
                        <a:t>Checkout</a:t>
                      </a:r>
                      <a:r>
                        <a:rPr dirty="0" sz="7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00">
                          <a:latin typeface="Symbol"/>
                          <a:cs typeface="Symbol"/>
                        </a:rPr>
                        <a:t></a:t>
                      </a:r>
                      <a:r>
                        <a:rPr dirty="0" sz="7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00">
                          <a:latin typeface="Arial"/>
                          <a:cs typeface="Arial"/>
                        </a:rPr>
                        <a:t>enter valid details </a:t>
                      </a:r>
                      <a:r>
                        <a:rPr dirty="0" sz="700">
                          <a:latin typeface="Symbol"/>
                          <a:cs typeface="Symbol"/>
                        </a:rPr>
                        <a:t></a:t>
                      </a:r>
                      <a:r>
                        <a:rPr dirty="0" sz="7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00">
                          <a:latin typeface="Arial"/>
                          <a:cs typeface="Arial"/>
                        </a:rPr>
                        <a:t>Place </a:t>
                      </a:r>
                      <a:r>
                        <a:rPr dirty="0" sz="700" spc="-10">
                          <a:latin typeface="Arial"/>
                          <a:cs typeface="Arial"/>
                        </a:rPr>
                        <a:t>Order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 marR="1206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00">
                          <a:latin typeface="Arial"/>
                          <a:cs typeface="Arial"/>
                        </a:rPr>
                        <a:t>Valid</a:t>
                      </a:r>
                      <a:r>
                        <a:rPr dirty="0" sz="700" spc="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00" spc="-10">
                          <a:latin typeface="Arial"/>
                          <a:cs typeface="Arial"/>
                        </a:rPr>
                        <a:t>name/address/email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00">
                          <a:latin typeface="Arial"/>
                          <a:cs typeface="Arial"/>
                        </a:rPr>
                        <a:t>Order</a:t>
                      </a:r>
                      <a:r>
                        <a:rPr dirty="0" sz="7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00">
                          <a:latin typeface="Arial"/>
                          <a:cs typeface="Arial"/>
                        </a:rPr>
                        <a:t>confirmation</a:t>
                      </a:r>
                      <a:r>
                        <a:rPr dirty="0" sz="700" spc="-10">
                          <a:latin typeface="Arial"/>
                          <a:cs typeface="Arial"/>
                        </a:rPr>
                        <a:t> displayed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00" spc="-20">
                          <a:latin typeface="Arial"/>
                          <a:cs typeface="Arial"/>
                        </a:rPr>
                        <a:t>High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</a:tr>
              <a:tr h="227965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00">
                          <a:latin typeface="Arial"/>
                          <a:cs typeface="Arial"/>
                        </a:rPr>
                        <a:t>TC-CHK-</a:t>
                      </a:r>
                      <a:r>
                        <a:rPr dirty="0" sz="700" spc="-25">
                          <a:latin typeface="Arial"/>
                          <a:cs typeface="Arial"/>
                        </a:rPr>
                        <a:t>02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00">
                          <a:latin typeface="Arial"/>
                          <a:cs typeface="Arial"/>
                        </a:rPr>
                        <a:t>Checkout </a:t>
                      </a:r>
                      <a:r>
                        <a:rPr dirty="0" sz="700">
                          <a:latin typeface="Symbol"/>
                          <a:cs typeface="Symbol"/>
                        </a:rPr>
                        <a:t></a:t>
                      </a:r>
                      <a:r>
                        <a:rPr dirty="0" sz="7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00">
                          <a:latin typeface="Arial"/>
                          <a:cs typeface="Arial"/>
                        </a:rPr>
                        <a:t>invalid email</a:t>
                      </a:r>
                      <a:r>
                        <a:rPr dirty="0" sz="70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00">
                          <a:latin typeface="Symbol"/>
                          <a:cs typeface="Symbol"/>
                        </a:rPr>
                        <a:t></a:t>
                      </a:r>
                      <a:r>
                        <a:rPr dirty="0" sz="7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00">
                          <a:latin typeface="Arial"/>
                          <a:cs typeface="Arial"/>
                        </a:rPr>
                        <a:t>Place </a:t>
                      </a:r>
                      <a:r>
                        <a:rPr dirty="0" sz="700" spc="-10">
                          <a:latin typeface="Arial"/>
                          <a:cs typeface="Arial"/>
                        </a:rPr>
                        <a:t>Order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 marR="1206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00" spc="-20">
                          <a:latin typeface="Arial"/>
                          <a:cs typeface="Arial"/>
                        </a:rPr>
                        <a:t>abc@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00">
                          <a:latin typeface="Arial"/>
                          <a:cs typeface="Arial"/>
                        </a:rPr>
                        <a:t>Validation message </a:t>
                      </a:r>
                      <a:r>
                        <a:rPr dirty="0" sz="700" spc="-10">
                          <a:latin typeface="Arial"/>
                          <a:cs typeface="Arial"/>
                        </a:rPr>
                        <a:t>displayed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700" spc="-10">
                          <a:latin typeface="Arial"/>
                          <a:cs typeface="Arial"/>
                        </a:rPr>
                        <a:t>Medium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571500" y="9182100"/>
            <a:ext cx="5886450" cy="728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latin typeface="Arial"/>
                <a:cs typeface="Arial"/>
              </a:rPr>
              <a:t>5.</a:t>
            </a:r>
            <a:r>
              <a:rPr dirty="0" sz="1500" spc="-10" b="1">
                <a:latin typeface="Arial"/>
                <a:cs typeface="Arial"/>
              </a:rPr>
              <a:t> </a:t>
            </a:r>
            <a:r>
              <a:rPr dirty="0" sz="1500" b="1">
                <a:latin typeface="Arial"/>
                <a:cs typeface="Arial"/>
              </a:rPr>
              <a:t>Entry</a:t>
            </a:r>
            <a:r>
              <a:rPr dirty="0" sz="1500" spc="-10" b="1">
                <a:latin typeface="Arial"/>
                <a:cs typeface="Arial"/>
              </a:rPr>
              <a:t> </a:t>
            </a:r>
            <a:r>
              <a:rPr dirty="0" sz="1500" b="1">
                <a:latin typeface="Arial"/>
                <a:cs typeface="Arial"/>
              </a:rPr>
              <a:t>/</a:t>
            </a:r>
            <a:r>
              <a:rPr dirty="0" sz="1500" spc="-10" b="1">
                <a:latin typeface="Arial"/>
                <a:cs typeface="Arial"/>
              </a:rPr>
              <a:t> </a:t>
            </a:r>
            <a:r>
              <a:rPr dirty="0" sz="1500" b="1">
                <a:latin typeface="Arial"/>
                <a:cs typeface="Arial"/>
              </a:rPr>
              <a:t>Exit</a:t>
            </a:r>
            <a:r>
              <a:rPr dirty="0" sz="1500" spc="-5" b="1">
                <a:latin typeface="Arial"/>
                <a:cs typeface="Arial"/>
              </a:rPr>
              <a:t> </a:t>
            </a:r>
            <a:r>
              <a:rPr dirty="0" sz="1500" spc="-10" b="1">
                <a:latin typeface="Arial"/>
                <a:cs typeface="Arial"/>
              </a:rPr>
              <a:t>Criteria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950" b="1">
                <a:latin typeface="Arial"/>
                <a:cs typeface="Arial"/>
              </a:rPr>
              <a:t>Entry:</a:t>
            </a:r>
            <a:r>
              <a:rPr dirty="0" sz="950" spc="-5" b="1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Build is available,</a:t>
            </a:r>
            <a:r>
              <a:rPr dirty="0" sz="950" spc="-5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requirements are available, test</a:t>
            </a:r>
            <a:r>
              <a:rPr dirty="0" sz="950" spc="-5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environment is </a:t>
            </a:r>
            <a:r>
              <a:rPr dirty="0" sz="950" spc="-10">
                <a:latin typeface="Arial"/>
                <a:cs typeface="Arial"/>
              </a:rPr>
              <a:t>accessible.</a:t>
            </a:r>
            <a:endParaRPr sz="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9"/>
              </a:spcBef>
            </a:pPr>
            <a:r>
              <a:rPr dirty="0" sz="950" b="1">
                <a:latin typeface="Arial"/>
                <a:cs typeface="Arial"/>
              </a:rPr>
              <a:t>Exit:</a:t>
            </a:r>
            <a:r>
              <a:rPr dirty="0" sz="950" spc="-5" b="1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Critical/high defects are resolved or accepted, critical test cases pass, and</a:t>
            </a:r>
            <a:r>
              <a:rPr dirty="0" sz="950" spc="-5">
                <a:latin typeface="Arial"/>
                <a:cs typeface="Arial"/>
              </a:rPr>
              <a:t> </a:t>
            </a:r>
            <a:r>
              <a:rPr dirty="0" sz="950">
                <a:latin typeface="Arial"/>
                <a:cs typeface="Arial"/>
              </a:rPr>
              <a:t>test summary is </a:t>
            </a:r>
            <a:r>
              <a:rPr dirty="0" sz="950" spc="-10">
                <a:latin typeface="Arial"/>
                <a:cs typeface="Arial"/>
              </a:rPr>
              <a:t>documented.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(anonymous)</dc:creator>
  <dc:subject>(unspecified)</dc:subject>
  <dc:title>(anonymous)</dc:title>
  <dcterms:created xsi:type="dcterms:W3CDTF">2026-09-29T12:08:32Z</dcterms:created>
  <dcterms:modified xsi:type="dcterms:W3CDTF">2026-09-29T12:08:32Z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2026-09-29T00:00:00Z</vt:filetime>
  </property>
  <property fmtid="{D5CDD505-2E9C-101B-9397-08002B2CF9AE}" pid="3" name="Creator">
    <vt:lpwstr>(unspecified)</vt:lpwstr>
  </property>
  <property fmtid="{D5CDD505-2E9C-101B-9397-08002B2CF9AE}" pid="4" name="LastSaved">
    <vt:filetime>2026-09-29T00:00:00Z</vt:filetime>
  </property>
  <property fmtid="{D5CDD505-2E9C-101B-9397-08002B2CF9AE}" pid="5" name="Producer">
    <vt:lpwstr>ReportLab PDF Library - (opensource)</vt:lpwstr>
  </property>
</Properties>
</file>