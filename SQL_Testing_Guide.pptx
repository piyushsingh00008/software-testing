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3046" y="571500"/>
            <a:ext cx="3074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SQL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for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Software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Testing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1500" y="1054100"/>
            <a:ext cx="6409690" cy="7305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latin typeface="Arial MT"/>
                <a:cs typeface="Arial MT"/>
              </a:rPr>
              <a:t>SQL Testing </a:t>
            </a:r>
            <a:r>
              <a:rPr dirty="0" sz="950" spc="-10">
                <a:latin typeface="Arial MT"/>
                <a:cs typeface="Arial MT"/>
              </a:rPr>
              <a:t>Portfolio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950">
                <a:latin typeface="Arial MT"/>
                <a:cs typeface="Arial MT"/>
              </a:rPr>
              <a:t>Purpose: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demonstrate SQL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validation skills used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 testers to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verify application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data.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Sample</a:t>
            </a:r>
            <a:r>
              <a:rPr dirty="0" sz="1500" spc="-5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Schema</a:t>
            </a:r>
            <a:endParaRPr sz="1500">
              <a:latin typeface="Arial"/>
              <a:cs typeface="Arial"/>
            </a:endParaRPr>
          </a:p>
          <a:p>
            <a:pPr marL="469900">
              <a:lnSpc>
                <a:spcPts val="919"/>
              </a:lnSpc>
              <a:spcBef>
                <a:spcPts val="1200"/>
              </a:spcBef>
            </a:pPr>
            <a:r>
              <a:rPr dirty="0" sz="800">
                <a:latin typeface="Courier New"/>
                <a:cs typeface="Courier New"/>
              </a:rPr>
              <a:t>CREATE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TABLE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users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(</a:t>
            </a:r>
            <a:endParaRPr sz="800">
              <a:latin typeface="Courier New"/>
              <a:cs typeface="Courier New"/>
            </a:endParaRPr>
          </a:p>
          <a:p>
            <a:pPr marL="713740" marR="4224655">
              <a:lnSpc>
                <a:spcPts val="880"/>
              </a:lnSpc>
              <a:spcBef>
                <a:spcPts val="55"/>
              </a:spcBef>
            </a:pPr>
            <a:r>
              <a:rPr dirty="0" sz="800">
                <a:latin typeface="Courier New"/>
                <a:cs typeface="Courier New"/>
              </a:rPr>
              <a:t>user_id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INT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PRIMARY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KEY, </a:t>
            </a:r>
            <a:r>
              <a:rPr dirty="0" sz="800">
                <a:latin typeface="Courier New"/>
                <a:cs typeface="Courier New"/>
              </a:rPr>
              <a:t>name</a:t>
            </a:r>
            <a:r>
              <a:rPr dirty="0" sz="800" spc="1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VARCHAR(100),</a:t>
            </a:r>
            <a:endParaRPr sz="800">
              <a:latin typeface="Courier New"/>
              <a:cs typeface="Courier New"/>
            </a:endParaRPr>
          </a:p>
          <a:p>
            <a:pPr marL="713740">
              <a:lnSpc>
                <a:spcPts val="825"/>
              </a:lnSpc>
            </a:pPr>
            <a:r>
              <a:rPr dirty="0" sz="800">
                <a:latin typeface="Courier New"/>
                <a:cs typeface="Courier New"/>
              </a:rPr>
              <a:t>email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VARCHAR(150),</a:t>
            </a:r>
            <a:endParaRPr sz="800">
              <a:latin typeface="Courier New"/>
              <a:cs typeface="Courier New"/>
            </a:endParaRPr>
          </a:p>
          <a:p>
            <a:pPr marL="713740">
              <a:lnSpc>
                <a:spcPts val="880"/>
              </a:lnSpc>
            </a:pPr>
            <a:r>
              <a:rPr dirty="0" sz="800">
                <a:latin typeface="Courier New"/>
                <a:cs typeface="Courier New"/>
              </a:rPr>
              <a:t>status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VARCHAR(20)</a:t>
            </a:r>
            <a:endParaRPr sz="800">
              <a:latin typeface="Courier New"/>
              <a:cs typeface="Courier New"/>
            </a:endParaRPr>
          </a:p>
          <a:p>
            <a:pPr marL="469900">
              <a:lnSpc>
                <a:spcPts val="919"/>
              </a:lnSpc>
            </a:pPr>
            <a:r>
              <a:rPr dirty="0" sz="800" spc="-25">
                <a:latin typeface="Courier New"/>
                <a:cs typeface="Courier New"/>
              </a:rPr>
              <a:t>);</a:t>
            </a:r>
            <a:endParaRPr sz="800">
              <a:latin typeface="Courier New"/>
              <a:cs typeface="Courier New"/>
            </a:endParaRPr>
          </a:p>
          <a:p>
            <a:pPr marL="713740" marR="4163695" indent="-244475">
              <a:lnSpc>
                <a:spcPts val="880"/>
              </a:lnSpc>
              <a:spcBef>
                <a:spcPts val="900"/>
              </a:spcBef>
            </a:pPr>
            <a:r>
              <a:rPr dirty="0" sz="800">
                <a:latin typeface="Courier New"/>
                <a:cs typeface="Courier New"/>
              </a:rPr>
              <a:t>CREATE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TABLE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orders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( </a:t>
            </a:r>
            <a:r>
              <a:rPr dirty="0" sz="800">
                <a:latin typeface="Courier New"/>
                <a:cs typeface="Courier New"/>
              </a:rPr>
              <a:t>order_id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INT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PRIMARY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KEY, </a:t>
            </a:r>
            <a:r>
              <a:rPr dirty="0" sz="800">
                <a:latin typeface="Courier New"/>
                <a:cs typeface="Courier New"/>
              </a:rPr>
              <a:t>user_id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INT,</a:t>
            </a:r>
            <a:endParaRPr sz="800">
              <a:latin typeface="Courier New"/>
              <a:cs typeface="Courier New"/>
            </a:endParaRPr>
          </a:p>
          <a:p>
            <a:pPr marL="713740" marR="4407535">
              <a:lnSpc>
                <a:spcPts val="880"/>
              </a:lnSpc>
            </a:pPr>
            <a:r>
              <a:rPr dirty="0" sz="800">
                <a:latin typeface="Courier New"/>
                <a:cs typeface="Courier New"/>
              </a:rPr>
              <a:t>amount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DECIMAL(10,2), </a:t>
            </a:r>
            <a:r>
              <a:rPr dirty="0" sz="800">
                <a:latin typeface="Courier New"/>
                <a:cs typeface="Courier New"/>
              </a:rPr>
              <a:t>status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VARCHAR(20),</a:t>
            </a:r>
            <a:endParaRPr sz="800">
              <a:latin typeface="Courier New"/>
              <a:cs typeface="Courier New"/>
            </a:endParaRPr>
          </a:p>
          <a:p>
            <a:pPr marL="713740">
              <a:lnSpc>
                <a:spcPts val="825"/>
              </a:lnSpc>
            </a:pPr>
            <a:r>
              <a:rPr dirty="0" sz="800">
                <a:latin typeface="Courier New"/>
                <a:cs typeface="Courier New"/>
              </a:rPr>
              <a:t>FOREIGN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KEY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(user_id)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REFERENCES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users(user_id)</a:t>
            </a:r>
            <a:endParaRPr sz="800">
              <a:latin typeface="Courier New"/>
              <a:cs typeface="Courier New"/>
            </a:endParaRPr>
          </a:p>
          <a:p>
            <a:pPr marL="469900">
              <a:lnSpc>
                <a:spcPts val="919"/>
              </a:lnSpc>
            </a:pPr>
            <a:r>
              <a:rPr dirty="0" sz="800" spc="-25">
                <a:latin typeface="Courier New"/>
                <a:cs typeface="Courier New"/>
              </a:rPr>
              <a:t>);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Important Testing </a:t>
            </a:r>
            <a:r>
              <a:rPr dirty="0" sz="1500" spc="-10" b="1">
                <a:latin typeface="Arial"/>
                <a:cs typeface="Arial"/>
              </a:rPr>
              <a:t>Queries</a:t>
            </a:r>
            <a:endParaRPr sz="1500">
              <a:latin typeface="Arial"/>
              <a:cs typeface="Arial"/>
            </a:endParaRPr>
          </a:p>
          <a:p>
            <a:pPr marL="182245" indent="-16954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182245" algn="l"/>
              </a:tabLst>
            </a:pPr>
            <a:r>
              <a:rPr dirty="0" sz="1200" b="1">
                <a:latin typeface="Arial"/>
                <a:cs typeface="Arial"/>
              </a:rPr>
              <a:t>Find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duplicate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emails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60"/>
              </a:spcBef>
            </a:pPr>
            <a:r>
              <a:rPr dirty="0" sz="800">
                <a:latin typeface="Courier New"/>
                <a:cs typeface="Courier New"/>
              </a:rPr>
              <a:t>SELECT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email,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COUNT(*)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AS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total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FROM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users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GROUP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BY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email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HAVING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COUNT(*)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&gt;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1;</a:t>
            </a:r>
            <a:endParaRPr sz="800">
              <a:latin typeface="Courier New"/>
              <a:cs typeface="Courier New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Arial"/>
                <a:cs typeface="Arial"/>
              </a:rPr>
              <a:t>Verify active </a:t>
            </a:r>
            <a:r>
              <a:rPr dirty="0" sz="1200" spc="-10" b="1">
                <a:latin typeface="Arial"/>
                <a:cs typeface="Arial"/>
              </a:rPr>
              <a:t>users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60"/>
              </a:spcBef>
            </a:pPr>
            <a:r>
              <a:rPr dirty="0" sz="800">
                <a:latin typeface="Courier New"/>
                <a:cs typeface="Courier New"/>
              </a:rPr>
              <a:t>SELECT</a:t>
            </a:r>
            <a:r>
              <a:rPr dirty="0" sz="800" spc="1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*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FROM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users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WHERE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status</a:t>
            </a:r>
            <a:r>
              <a:rPr dirty="0" sz="800" spc="1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=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'ACTIVE';</a:t>
            </a:r>
            <a:endParaRPr sz="800">
              <a:latin typeface="Courier New"/>
              <a:cs typeface="Courier New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 startAt="3"/>
              <a:tabLst>
                <a:tab pos="182245" algn="l"/>
              </a:tabLst>
            </a:pPr>
            <a:r>
              <a:rPr dirty="0" sz="1200" b="1">
                <a:latin typeface="Arial"/>
                <a:cs typeface="Arial"/>
              </a:rPr>
              <a:t>Join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users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orders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60"/>
              </a:spcBef>
            </a:pPr>
            <a:r>
              <a:rPr dirty="0" sz="800">
                <a:latin typeface="Courier New"/>
                <a:cs typeface="Courier New"/>
              </a:rPr>
              <a:t>SELECT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u.name,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o.order_id,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o.amount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FROM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users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JOIN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orders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ON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u.user_id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=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o.user_id;</a:t>
            </a:r>
            <a:endParaRPr sz="800">
              <a:latin typeface="Courier New"/>
              <a:cs typeface="Courier New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 startAt="4"/>
              <a:tabLst>
                <a:tab pos="182245" algn="l"/>
              </a:tabLst>
            </a:pPr>
            <a:r>
              <a:rPr dirty="0" sz="1200" b="1">
                <a:latin typeface="Arial"/>
                <a:cs typeface="Arial"/>
              </a:rPr>
              <a:t>Total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order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value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60"/>
              </a:spcBef>
            </a:pPr>
            <a:r>
              <a:rPr dirty="0" sz="800">
                <a:latin typeface="Courier New"/>
                <a:cs typeface="Courier New"/>
              </a:rPr>
              <a:t>SELECT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SUM(amount)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AS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total_sales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FROM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orders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WHERE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status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=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'COMPLETED';</a:t>
            </a:r>
            <a:endParaRPr sz="800">
              <a:latin typeface="Courier New"/>
              <a:cs typeface="Courier New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 startAt="5"/>
              <a:tabLst>
                <a:tab pos="182245" algn="l"/>
              </a:tabLst>
            </a:pPr>
            <a:r>
              <a:rPr dirty="0" sz="1200" b="1">
                <a:latin typeface="Arial"/>
                <a:cs typeface="Arial"/>
              </a:rPr>
              <a:t>Highest </a:t>
            </a:r>
            <a:r>
              <a:rPr dirty="0" sz="1200" spc="-10" b="1">
                <a:latin typeface="Arial"/>
                <a:cs typeface="Arial"/>
              </a:rPr>
              <a:t>order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60"/>
              </a:spcBef>
            </a:pPr>
            <a:r>
              <a:rPr dirty="0" sz="800">
                <a:latin typeface="Courier New"/>
                <a:cs typeface="Courier New"/>
              </a:rPr>
              <a:t>SELECT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*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FROM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orders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ORDER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BY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amount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DESC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LIMIT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1;</a:t>
            </a:r>
            <a:endParaRPr sz="800">
              <a:latin typeface="Courier New"/>
              <a:cs typeface="Courier New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 startAt="6"/>
              <a:tabLst>
                <a:tab pos="182245" algn="l"/>
              </a:tabLst>
            </a:pPr>
            <a:r>
              <a:rPr dirty="0" sz="1200" b="1">
                <a:latin typeface="Arial"/>
                <a:cs typeface="Arial"/>
              </a:rPr>
              <a:t>Count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orders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10" b="1">
                <a:latin typeface="Arial"/>
                <a:cs typeface="Arial"/>
              </a:rPr>
              <a:t> status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60"/>
              </a:spcBef>
            </a:pPr>
            <a:r>
              <a:rPr dirty="0" sz="800">
                <a:latin typeface="Courier New"/>
                <a:cs typeface="Courier New"/>
              </a:rPr>
              <a:t>SELECT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status,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COUNT(*)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FROM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orders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GROUP</a:t>
            </a:r>
            <a:r>
              <a:rPr dirty="0" sz="800" spc="2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BY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status;</a:t>
            </a:r>
            <a:endParaRPr sz="800">
              <a:latin typeface="Courier New"/>
              <a:cs typeface="Courier New"/>
            </a:endParaRPr>
          </a:p>
          <a:p>
            <a:pPr marL="182245" indent="-169545">
              <a:lnSpc>
                <a:spcPct val="100000"/>
              </a:lnSpc>
              <a:spcBef>
                <a:spcPts val="720"/>
              </a:spcBef>
              <a:buAutoNum type="arabicPeriod" startAt="7"/>
              <a:tabLst>
                <a:tab pos="182245" algn="l"/>
              </a:tabLst>
            </a:pPr>
            <a:r>
              <a:rPr dirty="0" sz="1200" b="1">
                <a:latin typeface="Arial"/>
                <a:cs typeface="Arial"/>
              </a:rPr>
              <a:t>Detect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NULL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emails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60"/>
              </a:spcBef>
            </a:pPr>
            <a:r>
              <a:rPr dirty="0" sz="800">
                <a:latin typeface="Courier New"/>
                <a:cs typeface="Courier New"/>
              </a:rPr>
              <a:t>SELECT</a:t>
            </a:r>
            <a:r>
              <a:rPr dirty="0" sz="800" spc="1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*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FROM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users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WHERE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email</a:t>
            </a:r>
            <a:r>
              <a:rPr dirty="0" sz="800" spc="1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IS</a:t>
            </a:r>
            <a:r>
              <a:rPr dirty="0" sz="800" spc="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NULL;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Tester</a:t>
            </a:r>
            <a:r>
              <a:rPr dirty="0" sz="1500" spc="-50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Checks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2800"/>
              </a:lnSpc>
              <a:spcBef>
                <a:spcPts val="940"/>
              </a:spcBef>
            </a:pPr>
            <a:r>
              <a:rPr dirty="0" sz="950">
                <a:latin typeface="Arial MT"/>
                <a:cs typeface="Arial MT"/>
              </a:rPr>
              <a:t>Use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SQL to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validate UI/API results,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detect duplicates, verify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status transitions,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reconcile totals, check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NULL/invalid </a:t>
            </a:r>
            <a:r>
              <a:rPr dirty="0" sz="950" spc="-10">
                <a:latin typeface="Arial MT"/>
                <a:cs typeface="Arial MT"/>
              </a:rPr>
              <a:t>data, </a:t>
            </a:r>
            <a:r>
              <a:rPr dirty="0" sz="950">
                <a:latin typeface="Arial MT"/>
                <a:cs typeface="Arial MT"/>
              </a:rPr>
              <a:t>and confirm referential </a:t>
            </a:r>
            <a:r>
              <a:rPr dirty="0" sz="950" spc="-10">
                <a:latin typeface="Arial MT"/>
                <a:cs typeface="Arial MT"/>
              </a:rPr>
              <a:t>integrity.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(anonymous)</dc:creator>
  <dc:subject>(unspecified)</dc:subject>
  <dc:title>(anonymous)</dc:title>
  <dcterms:created xsi:type="dcterms:W3CDTF">2026-09-29T12:12:40Z</dcterms:created>
  <dcterms:modified xsi:type="dcterms:W3CDTF">2026-09-29T12:12:40Z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2026-09-29T00:00:00Z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2026-09-29T00:00:00Z</vt:filetime>
  </property>
  <property fmtid="{D5CDD505-2E9C-101B-9397-08002B2CF9AE}" pid="6" name="Producer">
    <vt:lpwstr>ReportLab PDF Library - (opensource)</vt:lpwstr>
  </property>
</Properties>
</file>